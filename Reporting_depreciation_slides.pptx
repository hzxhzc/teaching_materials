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sson" id="{14003b82-d900-369e-f513-8a53b36b3a3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20 minutes: recap, explicit teaching, two activities, exit ticket. Laptops half closed until the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($8,000 - $500) / 5 = $1,500. Q2: Historical cost $10,000 (excludes GST); year 1 expense $10,000 x 27.52% = $2,752; Carrying value $7,248. Q3: straight-line uses Historical cost (same each year); reducing balance uses Carrying value (falls each year).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aloud. Year ended 30 June 2030. Photocopier expense by year: 2,752, 1,995, 1,446, 1,048, 759 (this year's Accumulated depreciation minus last year's).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aloud. Year ended 30 June 2030. Photocopier expense by year: 2,752, 1,995, 1,446, 1,048, 759 (this year's Accumulated depreciation minus last year's).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aloud. Year ended 30 June 2030. Photocopier expense by year: 2,752, 1,995, 1,446, 1,048, 759 (this year's Accumulated depreciation minus last year's).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aloud. Year ended 30 June 2030. Photocopier expense by year: 2,752, 1,995, 1,446, 1,048, 759 (this year's Accumulated depreciation minus last year's).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on the final slide. Note the Carrying values are correct; the Balance Sheet error is one of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students entering only the year 2 expense as Accumulated depreciation.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(a) Verifiability: source document that independent observers can check. Relevance: more useful for decision-making. (b) Expense: amount consumed this period, Income Statement. Accumulated: total consumed over the life so far, Balance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Reporting depreciation: Dells Luggage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3736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VCE Accounting Unit 2, Area of Study 3 (textbook Section 16.7)  |  20-minute segment</a:t>
            </a:r>
            <a:endParaRPr lang="en-US" sz="1600" dirty="0"/>
          </a:p>
        </p:txBody>
      </p:sp>
      <p:sp>
        <p:nvSpPr>
          <p:cNvPr id="4" name="Phase 1"/>
          <p:cNvSpPr/>
          <p:nvPr/>
        </p:nvSpPr>
        <p:spPr>
          <a:xfrm>
            <a:off x="548640" y="2926080"/>
            <a:ext cx="150876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  <p:sp>
        <p:nvSpPr>
          <p:cNvPr id="7" name="Phase 2"/>
          <p:cNvSpPr/>
          <p:nvPr/>
        </p:nvSpPr>
        <p:spPr>
          <a:xfrm>
            <a:off x="2176272" y="2926080"/>
            <a:ext cx="150876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6272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176272" y="3429000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0" name="Phase 3"/>
          <p:cNvSpPr/>
          <p:nvPr/>
        </p:nvSpPr>
        <p:spPr>
          <a:xfrm>
            <a:off x="3803904" y="2926080"/>
            <a:ext cx="150876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03904" y="3429000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400" dirty="0"/>
          </a:p>
        </p:txBody>
      </p:sp>
      <p:sp>
        <p:nvSpPr>
          <p:cNvPr id="13" name="Phase 4"/>
          <p:cNvSpPr/>
          <p:nvPr/>
        </p:nvSpPr>
        <p:spPr>
          <a:xfrm>
            <a:off x="5431536" y="2926080"/>
            <a:ext cx="150876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31536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31536" y="3429000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6" name="Phase 5"/>
          <p:cNvSpPr/>
          <p:nvPr/>
        </p:nvSpPr>
        <p:spPr>
          <a:xfrm>
            <a:off x="7059168" y="2926080"/>
            <a:ext cx="150876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9168" y="3017520"/>
            <a:ext cx="150876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3429000"/>
            <a:ext cx="1508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Recap: how is depreciation calculated?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Dells Luggage, 1 July 2029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fittings: $8,000 plus GST, residual value $500, 5 years, straight-line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Photocopier: $11,000 including GST, residual value $2,000, 5 years, reducing balance at 27.52%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2286000"/>
            <a:ext cx="84124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Shop fittings: what is the annual Depreciation expense?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Photocopier: what is the Historical cost? Then year 1 Depreciation expense and Carrying value?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What does each method apply to find the expense?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297680"/>
            <a:ext cx="84124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think, 1 minute pair, then answers. Calculators are fine.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Reporting depreciation: Step 1: Income Statement</a:t>
            </a:r>
            <a:endParaRPr lang="en-US" sz="2400" dirty="0"/>
          </a:p>
        </p:txBody>
      </p:sp>
      <p:sp>
        <p:nvSpPr>
          <p:cNvPr id="3" name="Step card"/>
          <p:cNvSpPr/>
          <p:nvPr/>
        </p:nvSpPr>
        <p:spPr>
          <a:xfrm>
            <a:off x="365760" y="100584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accent"/>
          <p:cNvSpPr/>
          <p:nvPr/>
        </p:nvSpPr>
        <p:spPr>
          <a:xfrm>
            <a:off x="365760" y="1005840"/>
            <a:ext cx="73152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Income Statement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amount consumed this year is reported, under 'Other expenses': $1,500 + $2,752 = $4,252.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005840"/>
          <a:ext cx="4389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of Shop fittings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of Photocopier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297680" y="3840480"/>
            <a:ext cx="4389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year's amount is reported, not the total so far.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Reporting depreciation: Step 2: Balance Sheet</a:t>
            </a:r>
            <a:endParaRPr lang="en-US" sz="2400" dirty="0"/>
          </a:p>
        </p:txBody>
      </p:sp>
      <p:sp>
        <p:nvSpPr>
          <p:cNvPr id="3" name="Step card"/>
          <p:cNvSpPr/>
          <p:nvPr/>
        </p:nvSpPr>
        <p:spPr>
          <a:xfrm>
            <a:off x="365760" y="100584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accent"/>
          <p:cNvSpPr/>
          <p:nvPr/>
        </p:nvSpPr>
        <p:spPr>
          <a:xfrm>
            <a:off x="365760" y="1005840"/>
            <a:ext cx="73152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Balance Sheet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cost, less Accumulated depreciation (a negative asset), gives Carrying value.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005840"/>
          <a:ext cx="4389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Non-current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fittings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Accumulated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Carrying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Photocopier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Accumulated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Carrying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297680" y="3840480"/>
            <a:ext cx="4389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figures? Historical cost is verifiable. Carrying value is more relevant.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Reporting depreciation: Step 3: Accounting equation</a:t>
            </a:r>
            <a:endParaRPr lang="en-US" sz="2400" dirty="0"/>
          </a:p>
        </p:txBody>
      </p:sp>
      <p:sp>
        <p:nvSpPr>
          <p:cNvPr id="3" name="Step card"/>
          <p:cNvSpPr/>
          <p:nvPr/>
        </p:nvSpPr>
        <p:spPr>
          <a:xfrm>
            <a:off x="365760" y="100584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accent"/>
          <p:cNvSpPr/>
          <p:nvPr/>
        </p:nvSpPr>
        <p:spPr>
          <a:xfrm>
            <a:off x="365760" y="1005840"/>
            <a:ext cx="73152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Accounting equation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down $4,252 and owner's equity down $4,252. No cash is paid.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005840"/>
          <a:ext cx="4389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651760"/>
                <a:gridCol w="5486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 (Accumulated depreciation increases)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Owner's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 (Depreciation expense decreases net profit)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297680" y="3840480"/>
            <a:ext cx="4389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 is paid. Only the Income Statement and Balance Sheet 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Reporting depreciation: Step 4: Successive periods</a:t>
            </a:r>
            <a:endParaRPr lang="en-US" sz="2400" dirty="0"/>
          </a:p>
        </p:txBody>
      </p:sp>
      <p:sp>
        <p:nvSpPr>
          <p:cNvPr id="3" name="Step card"/>
          <p:cNvSpPr/>
          <p:nvPr/>
        </p:nvSpPr>
        <p:spPr>
          <a:xfrm>
            <a:off x="365760" y="1005840"/>
            <a:ext cx="3566160" cy="1828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accent"/>
          <p:cNvSpPr/>
          <p:nvPr/>
        </p:nvSpPr>
        <p:spPr>
          <a:xfrm>
            <a:off x="365760" y="1005840"/>
            <a:ext cx="73152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Successive periods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depreciation grows every year, and the asset ends at its residual value.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005840"/>
          <a:ext cx="4389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(30 June)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Accumulated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297680" y="3840480"/>
            <a:ext cx="4389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depreciation increases every year under both methods.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Activity 1: Spot the reporting errors (pairs)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Bondi Boards, end of year 2. Shelving cost $6,000 (straight-line, $1,000 a year). Laptop cost $4,000 (reducing balance, $1,400 then $910). A trainee prepared these extracts: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Trainee's Income Statement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75688"/>
          <a:ext cx="4023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of Shelving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of Laptop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Trainee's Balance Sheet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01568"/>
          <a:ext cx="4023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97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Non-current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A8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93776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937760" y="1280160"/>
            <a:ext cx="384048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Identify one error in each extract.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Prepare the corrected extracts.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If the Income Statement were used, how would net profit be affected, and by how much?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Activity 2: Fitzroy Fitness (independent)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day 30 June. End of year 2.</a:t>
            </a:r>
            <a:endParaRPr lang="en-US" sz="1300" dirty="0"/>
          </a:p>
        </p:txBody>
      </p:sp>
      <p:sp>
        <p:nvSpPr>
          <p:cNvPr id="4" name="Asset card 1"/>
          <p:cNvSpPr/>
          <p:nvPr/>
        </p:nvSpPr>
        <p:spPr>
          <a:xfrm>
            <a:off x="365760" y="1325880"/>
            <a:ext cx="438912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325880"/>
            <a:ext cx="41148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equipment (reducing balance)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 $12,000. Accumulated depreciation at end of year 1: $3,600. Year 2 Depreciation expense: $2,520.</a:t>
            </a:r>
            <a:endParaRPr lang="en-US" sz="1300" dirty="0"/>
          </a:p>
        </p:txBody>
      </p:sp>
      <p:sp>
        <p:nvSpPr>
          <p:cNvPr id="6" name="Asset card 2"/>
          <p:cNvSpPr/>
          <p:nvPr/>
        </p:nvSpPr>
        <p:spPr>
          <a:xfrm>
            <a:off x="365760" y="2743200"/>
            <a:ext cx="4389120" cy="1280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743200"/>
            <a:ext cx="41148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furniture (straight-line)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 $5,000. Accumulated depreciation at end of year 1: $900. Year 2 Depreciation expense: $900.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1280160"/>
            <a:ext cx="365760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Complete the Income Statement extract for year 2.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Complete the Balance Sheet extract at the end of year 2 (Historical cost, Accumulated depreciation, Carrying value).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State the effect of year 2 depreciation on the accounting equation.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Exit ticket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Referring to one qualitative characteristic each, explain why a non-current asset is reported at Historical cost, and why it is also reported at Carrying value in the Balance Sheet.</a:t>
            </a:r>
            <a:endParaRPr lang="en-US" sz="20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Explain the difference between Depreciation expense and Accumulated depreciation, and name the report each appears 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Answers</a:t>
            </a:r>
            <a:endParaRPr lang="en-US" sz="2400" dirty="0"/>
          </a:p>
        </p:txBody>
      </p:sp>
      <p:sp>
        <p:nvSpPr>
          <p:cNvPr id="3" name="Activity 1"/>
          <p:cNvSpPr/>
          <p:nvPr/>
        </p:nvSpPr>
        <p:spPr>
          <a:xfrm>
            <a:off x="365760" y="914400"/>
            <a:ext cx="411480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60120"/>
            <a:ext cx="393192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shows Accumulated depreciation ($2,000, $2,310) instead of year 2 expense ($1,000, $910)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shows only Carrying value, not Historical cost, Accumulated depreciation and Carrying value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Shelving $6,000 / $2,000 / $4,000. Laptop $4,000 / $2,310 / $1,690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understated by $2,400 ($4,310 against $1,910)</a:t>
            </a:r>
            <a:endParaRPr lang="en-US" sz="1300" dirty="0"/>
          </a:p>
        </p:txBody>
      </p:sp>
      <p:sp>
        <p:nvSpPr>
          <p:cNvPr id="5" name="Activity 2"/>
          <p:cNvSpPr/>
          <p:nvPr/>
        </p:nvSpPr>
        <p:spPr>
          <a:xfrm>
            <a:off x="4663440" y="914400"/>
            <a:ext cx="4114800" cy="2697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960120"/>
            <a:ext cx="393192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Expenses: gym $2,520, furniture $900, total $3,420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equipment: $12,000 / $6,120 / $5,880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furniture: $5,000 / $1,800 / $3,200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and owner's equity both decrease by $3,420. Liabilities: no effect</a:t>
            </a:r>
            <a:endParaRPr lang="en-US" sz="1300" dirty="0"/>
          </a:p>
        </p:txBody>
      </p:sp>
      <p:sp>
        <p:nvSpPr>
          <p:cNvPr id="7" name="Exit answers"/>
          <p:cNvSpPr/>
          <p:nvPr/>
        </p:nvSpPr>
        <p:spPr>
          <a:xfrm>
            <a:off x="365760" y="3749040"/>
            <a:ext cx="841248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749040"/>
            <a:ext cx="81381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ticket: (a) Historical cost: Verifiability (source document). Carrying value: Relevance (decision-making). (b) Depreciation expense: amount consumed this year, Income Statement. Accumulated depreciation: total consumed to date, Balance Sheet.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ls">
  <a:themeElements>
    <a:clrScheme name="Dells">
      <a:dk1>
        <a:srgbClr val="222222"/>
      </a:dk1>
      <a:lt1>
        <a:srgbClr val="FFFFFF"/>
      </a:lt1>
      <a:dk2>
        <a:srgbClr val="7B1F45"/>
      </a:dk2>
      <a:lt2>
        <a:srgbClr val="F3EEF1"/>
      </a:lt2>
      <a:accent1>
        <a:srgbClr val="7B1F45"/>
      </a:accent1>
      <a:accent2>
        <a:srgbClr val="0B3D91"/>
      </a:accent2>
      <a:accent3>
        <a:srgbClr val="2E7D5B"/>
      </a:accent3>
      <a:accent4>
        <a:srgbClr val="C77D0A"/>
      </a:accent4>
      <a:accent5>
        <a:srgbClr val="5B6B7F"/>
      </a:accent5>
      <a:accent6>
        <a:srgbClr val="B23A48"/>
      </a:accent6>
      <a:hlink>
        <a:srgbClr val="0B3D91"/>
      </a:hlink>
      <a:folHlink>
        <a:srgbClr val="5B6B7F"/>
      </a:folHlink>
    </a:clrScheme>
    <a:fontScheme name="Dell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depreciation: Dells Luggage</dc:title>
  <dc:subject>PptxGenJS Presentation</dc:subject>
  <dc:creator>PptxGenJS</dc:creator>
  <cp:lastModifiedBy>PptxGenJS</cp:lastModifiedBy>
  <cp:revision>1</cp:revision>
  <dcterms:created xsi:type="dcterms:W3CDTF">2026-10-10T06:42:17Z</dcterms:created>
  <dcterms:modified xsi:type="dcterms:W3CDTF">2026-10-10T06:42:17Z</dcterms:modified>
</cp:coreProperties>
</file>